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52598c99-04c9-09aa-b646-feb0c0c4ab04}">
          <p14:sldIdLst>
            <p14:sldId id="256"/>
            <p14:sldId id="257"/>
          </p14:sldIdLst>
        </p14:section>
        <p14:section name="仕組み" id="{656bdc24-febb-d661-3574-d4724669c110}">
          <p14:sldIdLst>
            <p14:sldId id="258"/>
            <p14:sldId id="259"/>
          </p14:sldIdLst>
        </p14:section>
        <p14:section name="デモ結果" id="{48a4d57c-ecba-d593-e03f-499306466e79}">
          <p14:sldIdLst>
            <p14:sldId id="260"/>
            <p14:sldId id="261"/>
            <p14:sldId id="262"/>
          </p14:sldIdLst>
        </p14:section>
        <p14:section name="まとめ" id="{1620c801-b3f8-480b-e40b-e2009cdfdb4c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4C5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4C5C"/>
                </a:solidFill>
                <a:latin typeface="+mn-lt"/>
              </a:rPr>
              <a:t>機能別・重要度別の件数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重要度S</c:v>
                </c:pt>
              </c:strCache>
            </c:strRef>
          </c:tx>
          <c:spPr>
            <a:solidFill>
              <a:srgbClr val="C2553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管理画面</c:v>
                  </c:pt>
                  <c:pt idx="1">
                    <c:v>会員登録</c:v>
                  </c:pt>
                  <c:pt idx="2">
                    <c:v>商品検索</c:v>
                  </c:pt>
                  <c:pt idx="3">
                    <c:v>バッチ連携</c:v>
                  </c:pt>
                  <c:pt idx="4">
                    <c:v>カート</c:v>
                  </c:pt>
                  <c:pt idx="5">
                    <c:v>ログイン</c:v>
                  </c:pt>
                  <c:pt idx="6">
                    <c:v>帳票出力</c:v>
                  </c:pt>
                  <c:pt idx="7">
                    <c:v>決済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重要度A</c:v>
                </c:pt>
              </c:strCache>
            </c:strRef>
          </c:tx>
          <c:spPr>
            <a:solidFill>
              <a:srgbClr val="E39B2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管理画面</c:v>
                  </c:pt>
                  <c:pt idx="1">
                    <c:v>会員登録</c:v>
                  </c:pt>
                  <c:pt idx="2">
                    <c:v>商品検索</c:v>
                  </c:pt>
                  <c:pt idx="3">
                    <c:v>バッチ連携</c:v>
                  </c:pt>
                  <c:pt idx="4">
                    <c:v>カート</c:v>
                  </c:pt>
                  <c:pt idx="5">
                    <c:v>ログイン</c:v>
                  </c:pt>
                  <c:pt idx="6">
                    <c:v>帳票出力</c:v>
                  </c:pt>
                  <c:pt idx="7">
                    <c:v>決済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6</c:v>
                </c:pt>
                <c:pt idx="4">
                  <c:v>7</c:v>
                </c:pt>
                <c:pt idx="5">
                  <c:v>4</c:v>
                </c:pt>
                <c:pt idx="6">
                  <c:v>1</c:v>
                </c:pt>
                <c:pt idx="7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重要度B</c:v>
                </c:pt>
              </c:strCache>
            </c:strRef>
          </c:tx>
          <c:spPr>
            <a:solidFill>
              <a:srgbClr val="0F7C8C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管理画面</c:v>
                  </c:pt>
                  <c:pt idx="1">
                    <c:v>会員登録</c:v>
                  </c:pt>
                  <c:pt idx="2">
                    <c:v>商品検索</c:v>
                  </c:pt>
                  <c:pt idx="3">
                    <c:v>バッチ連携</c:v>
                  </c:pt>
                  <c:pt idx="4">
                    <c:v>カート</c:v>
                  </c:pt>
                  <c:pt idx="5">
                    <c:v>ログイン</c:v>
                  </c:pt>
                  <c:pt idx="6">
                    <c:v>帳票出力</c:v>
                  </c:pt>
                  <c:pt idx="7">
                    <c:v>決済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  <c:pt idx="4">
                  <c:v>3</c:v>
                </c:pt>
                <c:pt idx="5">
                  <c:v>4</c:v>
                </c:pt>
                <c:pt idx="6">
                  <c:v>7</c:v>
                </c:pt>
                <c:pt idx="7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重要度C</c:v>
                </c:pt>
              </c:strCache>
            </c:strRef>
          </c:tx>
          <c:spPr>
            <a:solidFill>
              <a:srgbClr val="8FA6B2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管理画面</c:v>
                  </c:pt>
                  <c:pt idx="1">
                    <c:v>会員登録</c:v>
                  </c:pt>
                  <c:pt idx="2">
                    <c:v>商品検索</c:v>
                  </c:pt>
                  <c:pt idx="3">
                    <c:v>バッチ連携</c:v>
                  </c:pt>
                  <c:pt idx="4">
                    <c:v>カート</c:v>
                  </c:pt>
                  <c:pt idx="5">
                    <c:v>ログイン</c:v>
                  </c:pt>
                  <c:pt idx="6">
                    <c:v>帳票出力</c:v>
                  </c:pt>
                  <c:pt idx="7">
                    <c:v>決済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2</c:v>
                </c:pt>
                <c:pt idx="1">
                  <c:v>1</c:v>
                </c:pt>
                <c:pt idx="2">
                  <c:v>5</c:v>
                </c:pt>
                <c:pt idx="3">
                  <c:v>1</c:v>
                </c:pt>
                <c:pt idx="4">
                  <c:v>0</c:v>
                </c:pt>
                <c:pt idx="5">
                  <c:v>3</c:v>
                </c:pt>
                <c:pt idx="6">
                  <c:v>5</c:v>
                </c:pt>
                <c:pt idx="7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3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5A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品質分析ツールの中間報告です。障害票のダミーデータで一連の流れを動かした結果と、今後の進め方をご報告します。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品質データは件数が多く、自由記述の読み込みや形式のばらつきが負担になっています。AIの提案と人の確認を組み合わせて、傾向の把握を効率化するのが目的です。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5つの工程で構成しています。AIが関わるのは取込・列選択・ワードマイニングの3工程で、列選択と重み付けは人が確認・補正します。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AIの呼び先は設定で切り替えられる構成です。開発・検証段階ではIDEのAIチャットへの手動中継を使い、今後はコンプラ要件に合わせてAzure OpenAIかローカルLLMを選べるようにします。AIとのやり取りはすべて記録されます。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入力は、ソフト開発の障害票を模した架空データ80件です。先頭に表題や注記の行があるファイルでも、ヘッダ行を検出して取り込みます。右側には会社PCでの取込画面を貼ります。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AIを使うのは3つの工程です。それぞれ何を渡し、何が返ってくるかを示しています。実際の応答の画面は会社PCで実行したものを貼ります。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ダミーデータでの集計例です。重大な障害(重要度S・A)は決済とカートに多く出ています。要注意度のランキングはAIが抽出した重要語の重み付けに左右されるため、会社PCでの実行結果を右側に貼ります。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一連の流れは画面上で動く状態です。一方、集計やスコアの式は暫定で、精度の検証はこれからです。重複判定は文章の近さで見ているため、言い回しが大きく違う重複は拾えません。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今後は品質指標の設計と実データでの試行を進め、その後AIの呼び先をクラウドかローカルに接続します。実データの取り扱いルールと、AIの呼び先の方針についてご相談させてください。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alt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ja-JP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alt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ja-JP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altLang="en-US" sz="14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ja-JP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alt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ja-JP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5"/>
                </a:solidFill>
              </a:rPr>
              <a:t>品質分析ツール 中間報告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solidFill>
                  <a:schemeClr val="bg1"/>
                </a:solidFill>
              </a:rPr>
              <a:t>品質分析ツール 中間報告</a:t>
            </a:r>
            <a:endParaRPr lang="ja-JP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000" dirty="0">
                <a:solidFill>
                  <a:schemeClr val="bg2"/>
                </a:solidFill>
              </a:rPr>
              <a:t>障害票データを題材にした試作の進捗と、今後の進め方</a:t>
            </a:r>
            <a:endParaRPr lang="ja-JP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1400" dirty="0">
                <a:solidFill>
                  <a:schemeClr val="accent5"/>
                </a:solidFill>
              </a:rPr>
              <a:t>2026年10月 ／ 報告者:(所属・氏名)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234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chemeClr val="bg1"/>
                </a:solidFill>
              </a:rPr>
              <a:t>1</a:t>
            </a:r>
            <a:endParaRPr lang="ja-JP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23444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chemeClr val="bg1"/>
                </a:solidFill>
              </a:rPr>
              <a:t>2</a:t>
            </a:r>
            <a:endParaRPr lang="ja-JP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65376" y="123444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chemeClr val="bg1"/>
                </a:solidFill>
              </a:rPr>
              <a:t>3</a:t>
            </a:r>
            <a:endParaRPr lang="ja-JP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432304" y="12344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chemeClr val="bg1"/>
                </a:solidFill>
              </a:rPr>
              <a:t>4</a:t>
            </a:r>
            <a:endParaRPr lang="ja-JP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99232" y="123444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chemeClr val="bg1"/>
                </a:solidFill>
              </a:rPr>
              <a:t>5</a:t>
            </a:r>
            <a:endParaRPr lang="ja-JP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200" b="1" dirty="0">
                <a:solidFill>
                  <a:schemeClr val="tx2"/>
                </a:solidFill>
              </a:rPr>
              <a:t>目的: 品質データの傾向把握を効率化する</a:t>
            </a:r>
            <a:endParaRPr lang="ja-JP" sz="3200" dirty="0"/>
          </a:p>
        </p:txBody>
      </p:sp>
      <p:sp>
        <p:nvSpPr>
          <p:cNvPr id="3" name="課題カード"/>
          <p:cNvSpPr/>
          <p:nvPr/>
        </p:nvSpPr>
        <p:spPr>
          <a:xfrm>
            <a:off x="548640" y="1417320"/>
            <a:ext cx="51206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</a:rPr>
              <a:t>!</a:t>
            </a:r>
            <a:endParaRPr lang="ja-JP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tx2"/>
                </a:solidFill>
              </a:rPr>
              <a:t>いまの課題</a:t>
            </a:r>
            <a:endParaRPr lang="ja-JP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障害票などの記録は件数が多く、自由記述を読み込むのに時間がかかる</a:t>
            </a:r>
            <a:endParaRPr lang="ja-JP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列の構成やファイル形式が案件ごとにばらばら</a:t>
            </a:r>
            <a:endParaRPr lang="ja-JP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分析の観点が担当者ごとに異なり、比べにくい</a:t>
            </a:r>
            <a:endParaRPr lang="ja-JP" sz="1500" dirty="0"/>
          </a:p>
        </p:txBody>
      </p:sp>
      <p:sp>
        <p:nvSpPr>
          <p:cNvPr id="7" name="矢印"/>
          <p:cNvSpPr/>
          <p:nvPr/>
        </p:nvSpPr>
        <p:spPr>
          <a:xfrm>
            <a:off x="5833872" y="2788920"/>
            <a:ext cx="502920" cy="5486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8" name="目指すことカード"/>
          <p:cNvSpPr/>
          <p:nvPr/>
        </p:nvSpPr>
        <p:spPr>
          <a:xfrm>
            <a:off x="6492240" y="1417320"/>
            <a:ext cx="51206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1228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</a:rPr>
              <a:t>✓</a:t>
            </a:r>
            <a:endParaRPr lang="ja-JP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tx2"/>
                </a:solidFill>
              </a:rPr>
              <a:t>このツールで目指すこと</a:t>
            </a:r>
            <a:endParaRPr lang="ja-JP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2514600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形式を問わず取り込み、AIが列の意味を判定して整理する</a:t>
            </a:r>
            <a:endParaRPr lang="ja-JP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件数・重要度・推移の集計と、自由記述の重要語抽出を一度に行う</a:t>
            </a:r>
            <a:endParaRPr lang="ja-JP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重視したい観点を人が重み付けし、要注意の箇所を絞り込む</a:t>
            </a:r>
            <a:endParaRPr lang="ja-JP" sz="1500" dirty="0"/>
          </a:p>
        </p:txBody>
      </p:sp>
      <p:sp>
        <p:nvSpPr>
          <p:cNvPr id="12" name="方針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bg1"/>
                </a:solidFill>
              </a:rPr>
              <a:t>AIの提案と人の確認・補正を組み合わせ、手間を減らしながら判断の質を保つ</a:t>
            </a:r>
            <a:endParaRPr lang="ja-JP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200" b="1" dirty="0">
                <a:solidFill>
                  <a:schemeClr val="tx2"/>
                </a:solidFill>
              </a:rPr>
              <a:t>処理の流れ: AIの提案を人が確認して進める</a:t>
            </a:r>
            <a:endParaRPr lang="ja-JP" sz="3200" dirty="0"/>
          </a:p>
        </p:txBody>
      </p:sp>
      <p:sp>
        <p:nvSpPr>
          <p:cNvPr id="3" name="工程1"/>
          <p:cNvSpPr/>
          <p:nvPr/>
        </p:nvSpPr>
        <p:spPr>
          <a:xfrm>
            <a:off x="548640" y="1463040"/>
            <a:ext cx="2057400" cy="393192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</a:rPr>
              <a:t>1</a:t>
            </a:r>
            <a:endParaRPr lang="ja-JP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</a:rPr>
              <a:t>取込</a:t>
            </a:r>
            <a:endParaRPr lang="ja-JP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</a:rPr>
              <a:t>AIがヘッダ行を検出する。ヘッダが無いデータは対象外</a:t>
            </a:r>
            <a:endParaRPr lang="ja-JP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892040"/>
            <a:ext cx="731520" cy="292608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chemeClr val="bg1"/>
                </a:solidFill>
              </a:rPr>
              <a:t>AI</a:t>
            </a:r>
            <a:endParaRPr lang="ja-JP" sz="1100" dirty="0"/>
          </a:p>
        </p:txBody>
      </p:sp>
      <p:sp>
        <p:nvSpPr>
          <p:cNvPr id="8" name="工程2"/>
          <p:cNvSpPr/>
          <p:nvPr/>
        </p:nvSpPr>
        <p:spPr>
          <a:xfrm>
            <a:off x="2798064" y="1463040"/>
            <a:ext cx="2057400" cy="393192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26664" y="16916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</a:rPr>
              <a:t>2</a:t>
            </a:r>
            <a:endParaRPr lang="ja-JP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2377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</a:rPr>
              <a:t>列選択</a:t>
            </a:r>
            <a:endParaRPr lang="ja-JP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26664" y="288036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</a:rPr>
              <a:t>AIが各列の役割と分析に使うかを提案し、人が確定する</a:t>
            </a:r>
            <a:endParaRPr lang="ja-JP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26664" y="4892040"/>
            <a:ext cx="731520" cy="292608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chemeClr val="bg1"/>
                </a:solidFill>
              </a:rPr>
              <a:t>AI</a:t>
            </a:r>
            <a:endParaRPr lang="ja-JP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95344" y="4892040"/>
            <a:ext cx="868680" cy="292608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chemeClr val="bg1"/>
                </a:solidFill>
              </a:rPr>
              <a:t>人が確認</a:t>
            </a:r>
            <a:endParaRPr lang="ja-JP" sz="1100" dirty="0"/>
          </a:p>
        </p:txBody>
      </p:sp>
      <p:sp>
        <p:nvSpPr>
          <p:cNvPr id="14" name="工程3"/>
          <p:cNvSpPr/>
          <p:nvPr/>
        </p:nvSpPr>
        <p:spPr>
          <a:xfrm>
            <a:off x="5047488" y="1463040"/>
            <a:ext cx="2057400" cy="393192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76088" y="169164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</a:rPr>
              <a:t>3</a:t>
            </a:r>
            <a:endParaRPr lang="ja-JP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2377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</a:rPr>
              <a:t>行チェック</a:t>
            </a:r>
            <a:endParaRPr lang="ja-JP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288036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</a:rPr>
              <a:t>現象の文章の近さから、重複して起票された可能性のある障害を検出する</a:t>
            </a:r>
            <a:endParaRPr lang="ja-JP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76088" y="4892040"/>
            <a:ext cx="731520" cy="292608"/>
          </a:xfrm>
          <a:prstGeom prst="roundRect">
            <a:avLst>
              <a:gd name="adj" fmla="val 375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chemeClr val="bg1"/>
                </a:solidFill>
              </a:rPr>
              <a:t>自動</a:t>
            </a:r>
            <a:endParaRPr lang="ja-JP" sz="1100" dirty="0"/>
          </a:p>
        </p:txBody>
      </p:sp>
      <p:sp>
        <p:nvSpPr>
          <p:cNvPr id="19" name="工程4"/>
          <p:cNvSpPr/>
          <p:nvPr/>
        </p:nvSpPr>
        <p:spPr>
          <a:xfrm>
            <a:off x="7296912" y="1463040"/>
            <a:ext cx="2057400" cy="393192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25512" y="1691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</a:rPr>
              <a:t>4</a:t>
            </a:r>
            <a:endParaRPr lang="ja-JP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525512" y="2377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</a:rPr>
              <a:t>ワードマイニング</a:t>
            </a:r>
            <a:endParaRPr lang="ja-JP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525512" y="288036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</a:rPr>
              <a:t>AIが自由記述から重要語を抽出し、人が重みを付ける</a:t>
            </a:r>
            <a:endParaRPr lang="ja-JP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25512" y="4892040"/>
            <a:ext cx="731520" cy="292608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chemeClr val="bg1"/>
                </a:solidFill>
              </a:rPr>
              <a:t>AI</a:t>
            </a:r>
            <a:endParaRPr lang="ja-JP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94192" y="4892040"/>
            <a:ext cx="868680" cy="292608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chemeClr val="bg1"/>
                </a:solidFill>
              </a:rPr>
              <a:t>人が確認</a:t>
            </a:r>
            <a:endParaRPr lang="ja-JP" sz="1100" dirty="0"/>
          </a:p>
        </p:txBody>
      </p:sp>
      <p:sp>
        <p:nvSpPr>
          <p:cNvPr id="25" name="工程5"/>
          <p:cNvSpPr/>
          <p:nvPr/>
        </p:nvSpPr>
        <p:spPr>
          <a:xfrm>
            <a:off x="9546336" y="1463040"/>
            <a:ext cx="2057400" cy="393192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74936" y="16916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</a:rPr>
              <a:t>5</a:t>
            </a:r>
            <a:endParaRPr lang="ja-JP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774936" y="2377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</a:rPr>
              <a:t>分析・出力</a:t>
            </a:r>
            <a:endParaRPr lang="ja-JP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774936" y="288036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</a:rPr>
              <a:t>件数・推移・要注意度を集計し、Excelで出力する</a:t>
            </a:r>
            <a:endParaRPr lang="ja-JP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774936" y="4892040"/>
            <a:ext cx="731520" cy="292608"/>
          </a:xfrm>
          <a:prstGeom prst="roundRect">
            <a:avLst>
              <a:gd name="adj" fmla="val 375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chemeClr val="bg1"/>
                </a:solidFill>
              </a:rPr>
              <a:t>自動</a:t>
            </a:r>
            <a:endParaRPr lang="ja-JP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accent6"/>
                </a:solidFill>
              </a:rPr>
              <a:t>各工程の結果はセッション単位でDBに保存し、将来の期間比較などに使えるよう蓄積する</a:t>
            </a:r>
            <a:endParaRPr lang="ja-JP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200" b="1" dirty="0">
                <a:solidFill>
                  <a:schemeClr val="tx2"/>
                </a:solidFill>
              </a:rPr>
              <a:t>AIの呼び先は設定で切り替えられる</a:t>
            </a:r>
            <a:endParaRPr lang="ja-JP" sz="3200" dirty="0"/>
          </a:p>
        </p:txBody>
      </p:sp>
      <p:sp>
        <p:nvSpPr>
          <p:cNvPr id="3" name="ツール本体"/>
          <p:cNvSpPr/>
          <p:nvPr/>
        </p:nvSpPr>
        <p:spPr>
          <a:xfrm>
            <a:off x="548640" y="2286000"/>
            <a:ext cx="301752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</a:rPr>
              <a:t>品質分析ツール</a:t>
            </a:r>
            <a:endParaRPr lang="ja-JP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1546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bg1"/>
                </a:solidFill>
              </a:rPr>
              <a:t>プロンプトの作成と応答の読み取りは、どの呼び先でも共通</a:t>
            </a:r>
            <a:endParaRPr lang="ja-JP" sz="1400" dirty="0"/>
          </a:p>
        </p:txBody>
      </p:sp>
      <p:sp>
        <p:nvSpPr>
          <p:cNvPr id="6" name="矢印"/>
          <p:cNvSpPr/>
          <p:nvPr/>
        </p:nvSpPr>
        <p:spPr>
          <a:xfrm>
            <a:off x="3703320" y="3200400"/>
            <a:ext cx="548640" cy="5486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0" y="3840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</a:rPr>
              <a:t>呼び先の設定</a:t>
            </a:r>
            <a:endParaRPr lang="ja-JP" sz="11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</a:rPr>
              <a:t>(画面・環境変数)</a:t>
            </a:r>
            <a:endParaRPr lang="ja-JP" sz="1100" dirty="0"/>
          </a:p>
        </p:txBody>
      </p:sp>
      <p:sp>
        <p:nvSpPr>
          <p:cNvPr id="8" name="呼び先1"/>
          <p:cNvSpPr/>
          <p:nvPr/>
        </p:nvSpPr>
        <p:spPr>
          <a:xfrm>
            <a:off x="4983480" y="1417320"/>
            <a:ext cx="66294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12080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1</a:t>
            </a:r>
            <a:endParaRPr lang="ja-JP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16184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</a:rPr>
              <a:t>手動中継(IDEのAIチャット)</a:t>
            </a:r>
            <a:endParaRPr lang="ja-JP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057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</a:rPr>
              <a:t>GitHub Copilot などにプロンプトを貼り、応答を戻す</a:t>
            </a:r>
            <a:endParaRPr lang="ja-JP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0" y="1673352"/>
            <a:ext cx="1280160" cy="292608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chemeClr val="bg1"/>
                </a:solidFill>
              </a:rPr>
              <a:t>開発・検証段階</a:t>
            </a:r>
            <a:endParaRPr lang="ja-JP" sz="1100" dirty="0"/>
          </a:p>
        </p:txBody>
      </p:sp>
      <p:sp>
        <p:nvSpPr>
          <p:cNvPr id="13" name="呼び先2"/>
          <p:cNvSpPr/>
          <p:nvPr/>
        </p:nvSpPr>
        <p:spPr>
          <a:xfrm>
            <a:off x="4983480" y="2834640"/>
            <a:ext cx="66294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31546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2</a:t>
            </a:r>
            <a:endParaRPr lang="ja-JP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30358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</a:rPr>
              <a:t>Azure OpenAI</a:t>
            </a:r>
            <a:endParaRPr lang="ja-JP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3474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</a:rPr>
              <a:t>社内向けのクラウド環境から自動で呼び出す</a:t>
            </a:r>
            <a:endParaRPr lang="ja-JP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0" y="3090672"/>
            <a:ext cx="1280160" cy="292608"/>
          </a:xfrm>
          <a:prstGeom prst="roundRect">
            <a:avLst>
              <a:gd name="adj" fmla="val 375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chemeClr val="bg1"/>
                </a:solidFill>
              </a:rPr>
              <a:t>今後対応</a:t>
            </a:r>
            <a:endParaRPr lang="ja-JP" sz="1100" dirty="0"/>
          </a:p>
        </p:txBody>
      </p:sp>
      <p:sp>
        <p:nvSpPr>
          <p:cNvPr id="18" name="呼び先3"/>
          <p:cNvSpPr/>
          <p:nvPr/>
        </p:nvSpPr>
        <p:spPr>
          <a:xfrm>
            <a:off x="4983480" y="4251960"/>
            <a:ext cx="66294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12080" y="45720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3</a:t>
            </a:r>
            <a:endParaRPr lang="ja-JP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44531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</a:rPr>
              <a:t>ローカルLLM</a:t>
            </a:r>
            <a:endParaRPr lang="ja-JP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4892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</a:rPr>
              <a:t>データを社外に出さずにPC内で処理する</a:t>
            </a:r>
            <a:endParaRPr lang="ja-JP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0" y="4507992"/>
            <a:ext cx="1280160" cy="292608"/>
          </a:xfrm>
          <a:prstGeom prst="roundRect">
            <a:avLst>
              <a:gd name="adj" fmla="val 375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chemeClr val="bg1"/>
                </a:solidFill>
              </a:rPr>
              <a:t>今後対応</a:t>
            </a:r>
            <a:endParaRPr lang="ja-JP" sz="1100" dirty="0"/>
          </a:p>
        </p:txBody>
      </p:sp>
      <p:sp>
        <p:nvSpPr>
          <p:cNvPr id="23" name="記録の注記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</a:rPr>
              <a:t>AIに送ったプロンプトと応答はすべて記録し、画面とExcelで確認できる。コンプラ要件に応じて呼び先を選べる</a:t>
            </a:r>
            <a:endParaRPr lang="ja-JP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200" b="1" dirty="0">
                <a:solidFill>
                  <a:schemeClr val="tx2"/>
                </a:solidFill>
              </a:rPr>
              <a:t>入力: 障害票のダミーデータ80件</a:t>
            </a:r>
            <a:endParaRPr lang="ja-JP" sz="3200" dirty="0"/>
          </a:p>
        </p:txBody>
      </p:sp>
      <p:sp>
        <p:nvSpPr>
          <p:cNvPr id="3" name="入力の数値1"/>
          <p:cNvSpPr/>
          <p:nvPr/>
        </p:nvSpPr>
        <p:spPr>
          <a:xfrm>
            <a:off x="548640" y="1417320"/>
            <a:ext cx="2148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3200" b="1" dirty="0">
                <a:solidFill>
                  <a:schemeClr val="accent1"/>
                </a:solidFill>
              </a:rPr>
              <a:t>80件</a:t>
            </a:r>
            <a:endParaRPr lang="ja-JP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tx1"/>
                </a:solidFill>
              </a:rPr>
              <a:t>障害票の件数</a:t>
            </a:r>
            <a:endParaRPr lang="ja-JP" sz="1100" dirty="0"/>
          </a:p>
        </p:txBody>
      </p:sp>
      <p:sp>
        <p:nvSpPr>
          <p:cNvPr id="6" name="入力の数値2"/>
          <p:cNvSpPr/>
          <p:nvPr/>
        </p:nvSpPr>
        <p:spPr>
          <a:xfrm>
            <a:off x="2880360" y="1417320"/>
            <a:ext cx="2148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6324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3200" b="1" dirty="0">
                <a:solidFill>
                  <a:schemeClr val="accent1"/>
                </a:solidFill>
              </a:rPr>
              <a:t>12列</a:t>
            </a:r>
            <a:endParaRPr lang="ja-JP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tx1"/>
                </a:solidFill>
              </a:rPr>
              <a:t>ID・工程・機能・重要度・現象など</a:t>
            </a:r>
            <a:endParaRPr lang="ja-JP" sz="1100" dirty="0"/>
          </a:p>
        </p:txBody>
      </p:sp>
      <p:sp>
        <p:nvSpPr>
          <p:cNvPr id="9" name="入力の数値3"/>
          <p:cNvSpPr/>
          <p:nvPr/>
        </p:nvSpPr>
        <p:spPr>
          <a:xfrm>
            <a:off x="5212080" y="1417320"/>
            <a:ext cx="2148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9496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3200" b="1" dirty="0">
                <a:solidFill>
                  <a:schemeClr val="accent1"/>
                </a:solidFill>
              </a:rPr>
              <a:t>2か月分</a:t>
            </a:r>
            <a:endParaRPr lang="ja-JP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chemeClr val="tx1"/>
                </a:solidFill>
              </a:rPr>
              <a:t>2026年8月〜9月</a:t>
            </a:r>
            <a:endParaRPr lang="ja-JP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68122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68680"/>
                <a:gridCol w="914400"/>
                <a:gridCol w="59436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障害ID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工程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機能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重要度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現象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BUG-0001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結合テスト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バッチ連携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外部システムの応答が遅い時に、夜間バッチが異常終了する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BUG-0002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結合テスト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バッチ連携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外部システムの応答が遅い時に、夜間バッチが途中で異常終了した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BUG-0003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結合テスト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ログイン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メンテナンス明けの最初の処理で、セッションタイムアウト後に操作するとシステムエラー画面が表示される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BUG-0004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結合テスト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管理画面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管理者権限のアカウントで操作すると、データ更新時に更新日時が更新されない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BUG-0005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単体テスト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管理画面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iPhoneのSafariで閲覧した場合に、データ更新時に更新日時が更新されない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562356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6"/>
                </a:solidFill>
              </a:rPr>
              <a:t>※架空データ。実在のシステム・案件とは関係ありません</a:t>
            </a:r>
            <a:endParaRPr lang="ja-JP" sz="1000" dirty="0"/>
          </a:p>
        </p:txBody>
      </p:sp>
      <p:sp>
        <p:nvSpPr>
          <p:cNvPr id="14" name="画面キャプチャ枠"/>
          <p:cNvSpPr/>
          <p:nvPr/>
        </p:nvSpPr>
        <p:spPr>
          <a:xfrm>
            <a:off x="7589520" y="1417320"/>
            <a:ext cx="4023360" cy="448056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7772400" y="3200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chemeClr val="accent6"/>
                </a:solidFill>
              </a:rPr>
              <a:t>画面キャプチャを貼付</a:t>
            </a:r>
            <a:endParaRPr lang="ja-JP" sz="14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</a:rPr>
              <a:t>取込画面(ヘッダ検出の結果とプレビュー)</a:t>
            </a:r>
            <a:endParaRPr lang="ja-JP" sz="14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</a:rPr>
              <a:t>(会社PCでの実行結果)</a:t>
            </a:r>
            <a:endParaRPr lang="ja-JP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200" b="1" dirty="0">
                <a:solidFill>
                  <a:schemeClr val="tx2"/>
                </a:solidFill>
              </a:rPr>
              <a:t>AIの中間出力: 3つの工程で利用</a:t>
            </a:r>
            <a:endParaRPr lang="ja-JP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1</a:t>
            </a:r>
            <a:endParaRPr lang="ja-JP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463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</a:rPr>
              <a:t>ヘッダ検出</a:t>
            </a:r>
            <a:endParaRPr lang="ja-JP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300" b="1" dirty="0">
                <a:solidFill>
                  <a:schemeClr val="tx1"/>
                </a:solidFill>
              </a:rPr>
              <a:t>渡すもの: </a:t>
            </a:r>
            <a:pPr indent="0" marL="0">
              <a:spcAft>
                <a:spcPts val="400"/>
              </a:spcAft>
              <a:buNone/>
            </a:pPr>
            <a:r>
              <a:rPr lang="ja-JP" altLang="en-US" sz="1300" dirty="0">
                <a:solidFill>
                  <a:schemeClr val="tx1"/>
                </a:solidFill>
              </a:rPr>
              <a:t>データの先頭30行</a:t>
            </a:r>
            <a:endParaRPr lang="ja-JP" sz="13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300" b="1" dirty="0">
                <a:solidFill>
                  <a:schemeClr val="tx1"/>
                </a:solidFill>
              </a:rPr>
              <a:t>返すもの: </a:t>
            </a:r>
            <a:pPr indent="0" marL="0">
              <a:spcAft>
                <a:spcPts val="400"/>
              </a:spcAft>
              <a:buNone/>
            </a:pPr>
            <a:r>
              <a:rPr lang="ja-JP" altLang="en-US" sz="1300" dirty="0">
                <a:solidFill>
                  <a:schemeClr val="tx1"/>
                </a:solidFill>
              </a:rPr>
              <a:t>ヘッダ行の位置・区切り文字・列名</a:t>
            </a:r>
            <a:endParaRPr lang="ja-JP" sz="1300" dirty="0"/>
          </a:p>
        </p:txBody>
      </p:sp>
      <p:sp>
        <p:nvSpPr>
          <p:cNvPr id="6" name="画面キャプチャ枠"/>
          <p:cNvSpPr/>
          <p:nvPr/>
        </p:nvSpPr>
        <p:spPr>
          <a:xfrm>
            <a:off x="548640" y="3200400"/>
            <a:ext cx="352044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31520" y="41605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chemeClr val="accent6"/>
                </a:solidFill>
              </a:rPr>
              <a:t>画面キャプチャを貼付</a:t>
            </a:r>
            <a:endParaRPr lang="ja-JP" sz="14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</a:rPr>
              <a:t>ヘッダ検出の実行画面</a:t>
            </a:r>
            <a:endParaRPr lang="ja-JP" sz="14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</a:rPr>
              <a:t>(会社PCでの実行結果)</a:t>
            </a:r>
            <a:endParaRPr lang="ja-JP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4173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2</a:t>
            </a:r>
            <a:endParaRPr lang="ja-JP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463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</a:rPr>
              <a:t>列提案</a:t>
            </a:r>
            <a:endParaRPr lang="ja-JP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0574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300" b="1" dirty="0">
                <a:solidFill>
                  <a:schemeClr val="tx1"/>
                </a:solidFill>
              </a:rPr>
              <a:t>渡すもの: </a:t>
            </a:r>
            <a:pPr indent="0" marL="0">
              <a:spcAft>
                <a:spcPts val="400"/>
              </a:spcAft>
              <a:buNone/>
            </a:pPr>
            <a:r>
              <a:rPr lang="ja-JP" altLang="en-US" sz="1300" dirty="0">
                <a:solidFill>
                  <a:schemeClr val="tx1"/>
                </a:solidFill>
              </a:rPr>
              <a:t>列名とサンプル5行</a:t>
            </a:r>
            <a:endParaRPr lang="ja-JP" sz="13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300" b="1" dirty="0">
                <a:solidFill>
                  <a:schemeClr val="tx1"/>
                </a:solidFill>
              </a:rPr>
              <a:t>返すもの: </a:t>
            </a:r>
            <a:pPr indent="0" marL="0">
              <a:spcAft>
                <a:spcPts val="400"/>
              </a:spcAft>
              <a:buNone/>
            </a:pPr>
            <a:r>
              <a:rPr lang="ja-JP" altLang="en-US" sz="1300" dirty="0">
                <a:solidFill>
                  <a:schemeClr val="tx1"/>
                </a:solidFill>
              </a:rPr>
              <a:t>列の役割・分析に使うか・理由</a:t>
            </a:r>
            <a:endParaRPr lang="ja-JP" sz="1300" dirty="0"/>
          </a:p>
        </p:txBody>
      </p:sp>
      <p:sp>
        <p:nvSpPr>
          <p:cNvPr id="11" name="画面キャプチャ枠"/>
          <p:cNvSpPr/>
          <p:nvPr/>
        </p:nvSpPr>
        <p:spPr>
          <a:xfrm>
            <a:off x="4297680" y="3200400"/>
            <a:ext cx="352044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480560" y="41605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chemeClr val="accent6"/>
                </a:solidFill>
              </a:rPr>
              <a:t>画面キャプチャを貼付</a:t>
            </a:r>
            <a:endParaRPr lang="ja-JP" sz="14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</a:rPr>
              <a:t>列提案の実行画面</a:t>
            </a:r>
            <a:endParaRPr lang="ja-JP" sz="14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</a:rPr>
              <a:t>(会社PCでの実行結果)</a:t>
            </a:r>
            <a:endParaRPr lang="ja-JP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14173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3</a:t>
            </a:r>
            <a:endParaRPr lang="ja-JP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1463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</a:rPr>
              <a:t>ワードマイニング</a:t>
            </a:r>
            <a:endParaRPr lang="ja-JP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0574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300" b="1" dirty="0">
                <a:solidFill>
                  <a:schemeClr val="tx1"/>
                </a:solidFill>
              </a:rPr>
              <a:t>渡すもの: </a:t>
            </a:r>
            <a:pPr indent="0" marL="0">
              <a:spcAft>
                <a:spcPts val="400"/>
              </a:spcAft>
              <a:buNone/>
            </a:pPr>
            <a:r>
              <a:rPr lang="ja-JP" altLang="en-US" sz="1300" dirty="0">
                <a:solidFill>
                  <a:schemeClr val="tx1"/>
                </a:solidFill>
              </a:rPr>
              <a:t>自由記述欄の本文</a:t>
            </a:r>
            <a:endParaRPr lang="ja-JP" sz="13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300" b="1" dirty="0">
                <a:solidFill>
                  <a:schemeClr val="tx1"/>
                </a:solidFill>
              </a:rPr>
              <a:t>返すもの: </a:t>
            </a:r>
            <a:pPr indent="0" marL="0">
              <a:spcAft>
                <a:spcPts val="400"/>
              </a:spcAft>
              <a:buNone/>
            </a:pPr>
            <a:r>
              <a:rPr lang="ja-JP" altLang="en-US" sz="1300" dirty="0">
                <a:solidFill>
                  <a:schemeClr val="tx1"/>
                </a:solidFill>
              </a:rPr>
              <a:t>重要語・カテゴリ・重要度(出現回数はツール側で集計)</a:t>
            </a:r>
            <a:endParaRPr lang="ja-JP" sz="1300" dirty="0"/>
          </a:p>
        </p:txBody>
      </p:sp>
      <p:sp>
        <p:nvSpPr>
          <p:cNvPr id="16" name="画面キャプチャ枠"/>
          <p:cNvSpPr/>
          <p:nvPr/>
        </p:nvSpPr>
        <p:spPr>
          <a:xfrm>
            <a:off x="8046720" y="3200400"/>
            <a:ext cx="352044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229600" y="41605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chemeClr val="accent6"/>
                </a:solidFill>
              </a:rPr>
              <a:t>画面キャプチャを貼付</a:t>
            </a:r>
            <a:endParaRPr lang="ja-JP" sz="14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</a:rPr>
              <a:t>ワードマイニングの実行画面</a:t>
            </a:r>
            <a:endParaRPr lang="ja-JP" sz="14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</a:rPr>
              <a:t>(会社PCでの実行結果)</a:t>
            </a:r>
            <a:endParaRPr lang="ja-JP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200" b="1" dirty="0">
                <a:solidFill>
                  <a:schemeClr val="tx2"/>
                </a:solidFill>
              </a:rPr>
              <a:t>分析例: 重大な障害は決済とカートに集中</a:t>
            </a:r>
            <a:endParaRPr lang="ja-JP" sz="3200" dirty="0"/>
          </a:p>
        </p:txBody>
      </p:sp>
      <p:sp>
        <p:nvSpPr>
          <p:cNvPr id="3" name="指標1"/>
          <p:cNvSpPr/>
          <p:nvPr/>
        </p:nvSpPr>
        <p:spPr>
          <a:xfrm>
            <a:off x="548640" y="1371600"/>
            <a:ext cx="2615184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447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3000" b="1" dirty="0">
                <a:solidFill>
                  <a:schemeClr val="accent1"/>
                </a:solidFill>
              </a:rPr>
              <a:t>80件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299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chemeClr val="tx1"/>
                </a:solidFill>
              </a:rPr>
              <a:t>対象件数</a:t>
            </a:r>
            <a:endParaRPr lang="ja-JP" sz="1200" dirty="0"/>
          </a:p>
        </p:txBody>
      </p:sp>
      <p:sp>
        <p:nvSpPr>
          <p:cNvPr id="6" name="指標2"/>
          <p:cNvSpPr/>
          <p:nvPr/>
        </p:nvSpPr>
        <p:spPr>
          <a:xfrm>
            <a:off x="3364992" y="1371600"/>
            <a:ext cx="2615184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93592" y="14447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3000" b="1" dirty="0">
                <a:solidFill>
                  <a:schemeClr val="accent3"/>
                </a:solidFill>
              </a:rPr>
              <a:t>45%</a:t>
            </a:r>
            <a:endParaRPr lang="ja-JP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593592" y="20299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chemeClr val="tx1"/>
                </a:solidFill>
              </a:rPr>
              <a:t>重大(S/A)の割合</a:t>
            </a:r>
            <a:endParaRPr lang="ja-JP" sz="1200" dirty="0"/>
          </a:p>
        </p:txBody>
      </p:sp>
      <p:sp>
        <p:nvSpPr>
          <p:cNvPr id="9" name="指標3"/>
          <p:cNvSpPr/>
          <p:nvPr/>
        </p:nvSpPr>
        <p:spPr>
          <a:xfrm>
            <a:off x="6181344" y="1371600"/>
            <a:ext cx="2615184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9944" y="14447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3000" b="1" dirty="0">
                <a:solidFill>
                  <a:schemeClr val="accent1"/>
                </a:solidFill>
              </a:rPr>
              <a:t>12件</a:t>
            </a:r>
            <a:endParaRPr lang="ja-JP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0299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chemeClr val="tx1"/>
                </a:solidFill>
              </a:rPr>
              <a:t>重複の候補</a:t>
            </a:r>
            <a:endParaRPr lang="ja-JP" sz="1200" dirty="0"/>
          </a:p>
        </p:txBody>
      </p:sp>
      <p:sp>
        <p:nvSpPr>
          <p:cNvPr id="12" name="指標4"/>
          <p:cNvSpPr/>
          <p:nvPr/>
        </p:nvSpPr>
        <p:spPr>
          <a:xfrm>
            <a:off x="8997696" y="1371600"/>
            <a:ext cx="2615184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26296" y="14447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3000" b="1" dirty="0">
                <a:solidFill>
                  <a:schemeClr val="accent1"/>
                </a:solidFill>
              </a:rPr>
              <a:t>7.6h</a:t>
            </a:r>
            <a:endParaRPr lang="ja-JP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226296" y="20299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chemeClr val="tx1"/>
                </a:solidFill>
              </a:rPr>
              <a:t>平均対応工数</a:t>
            </a:r>
            <a:endParaRPr lang="ja-JP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2697480"/>
          <a:ext cx="66751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画面キャプチャ枠"/>
          <p:cNvSpPr/>
          <p:nvPr/>
        </p:nvSpPr>
        <p:spPr>
          <a:xfrm>
            <a:off x="7452360" y="2697480"/>
            <a:ext cx="416052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7635240" y="40005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chemeClr val="accent6"/>
                </a:solidFill>
              </a:rPr>
              <a:t>画面キャプチャを貼付</a:t>
            </a:r>
            <a:endParaRPr lang="ja-JP" sz="14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</a:rPr>
              <a:t>要注意度ランキング・週次推移の画面</a:t>
            </a:r>
            <a:endParaRPr lang="ja-JP" sz="1400" dirty="0"/>
          </a:p>
          <a:p>
            <a:pPr algn="ctr" indent="0" marL="0">
              <a:buNone/>
            </a:pPr>
            <a:r>
              <a:rPr lang="ja-JP" altLang="en-US" sz="1100" dirty="0">
                <a:solidFill>
                  <a:schemeClr val="accent6"/>
                </a:solidFill>
              </a:rPr>
              <a:t>(会社PCでの実行結果)</a:t>
            </a:r>
            <a:endParaRPr lang="ja-JP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200" b="1" dirty="0">
                <a:solidFill>
                  <a:schemeClr val="tx2"/>
                </a:solidFill>
              </a:rPr>
              <a:t>現状: 一連の流れは動作、精度は今後の課題</a:t>
            </a:r>
            <a:endParaRPr lang="ja-JP" sz="3200" dirty="0"/>
          </a:p>
        </p:txBody>
      </p:sp>
      <p:sp>
        <p:nvSpPr>
          <p:cNvPr id="3" name="できていること"/>
          <p:cNvSpPr/>
          <p:nvPr/>
        </p:nvSpPr>
        <p:spPr>
          <a:xfrm>
            <a:off x="548640" y="1417320"/>
            <a:ext cx="539496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</a:rPr>
              <a:t>✓</a:t>
            </a:r>
            <a:endParaRPr lang="ja-JP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tx2"/>
                </a:solidFill>
              </a:rPr>
              <a:t>できていること</a:t>
            </a:r>
            <a:endParaRPr lang="ja-JP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800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取込から出力までの全工程が画面上で動く</a:t>
            </a:r>
            <a:endParaRPr lang="ja-JP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AIを使う3工程を、IDEのAIチャット経由で実行できる</a:t>
            </a:r>
            <a:endParaRPr lang="ja-JP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AIとのやり取りの記録と、Excelレポートの出力</a:t>
            </a:r>
            <a:endParaRPr lang="ja-JP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結果をDBに蓄積する仕組み</a:t>
            </a:r>
            <a:endParaRPr lang="ja-JP" sz="1500" dirty="0"/>
          </a:p>
        </p:txBody>
      </p:sp>
      <p:sp>
        <p:nvSpPr>
          <p:cNvPr id="7" name="制約・未対応"/>
          <p:cNvSpPr/>
          <p:nvPr/>
        </p:nvSpPr>
        <p:spPr>
          <a:xfrm>
            <a:off x="6217920" y="1417320"/>
            <a:ext cx="539496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6459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</a:rPr>
              <a:t>!</a:t>
            </a:r>
            <a:endParaRPr lang="ja-JP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tx2"/>
                </a:solidFill>
              </a:rPr>
              <a:t>制約・未対応</a:t>
            </a:r>
            <a:endParaRPr lang="ja-JP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77440"/>
            <a:ext cx="4800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集計・スコアの式は暫定で、精度は未検証</a:t>
            </a:r>
            <a:endParaRPr lang="ja-JP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重複判定は文章の近さで見るため、言い回しが大きく違う重複は拾えない(例: 「半角カナで検索すると0件」と「半角カナ検索でヒットしない」)</a:t>
            </a:r>
            <a:endParaRPr lang="ja-JP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Azure OpenAI・ローカルLLMとの接続は未実装</a:t>
            </a:r>
            <a:endParaRPr lang="ja-JP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実データでの検証は未実施</a:t>
            </a:r>
            <a:endParaRPr lang="ja-JP" sz="1500" dirty="0"/>
          </a:p>
        </p:txBody>
      </p:sp>
      <p:sp>
        <p:nvSpPr>
          <p:cNvPr id="11" name="位置づけ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212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bg1"/>
                </a:solidFill>
              </a:rPr>
              <a:t>現時点は仕組みの検証段階。分析ロジックの妥当性は、実データでの試行を通じて評価する</a:t>
            </a:r>
            <a:endParaRPr lang="ja-JP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200" b="1" dirty="0">
                <a:solidFill>
                  <a:schemeClr val="tx2"/>
                </a:solidFill>
              </a:rPr>
              <a:t>今後の進め方</a:t>
            </a:r>
            <a:endParaRPr lang="ja-JP" sz="3200" dirty="0"/>
          </a:p>
        </p:txBody>
      </p:sp>
      <p:sp>
        <p:nvSpPr>
          <p:cNvPr id="3" name="時間軸"/>
          <p:cNvSpPr/>
          <p:nvPr/>
        </p:nvSpPr>
        <p:spPr>
          <a:xfrm>
            <a:off x="822960" y="1691640"/>
            <a:ext cx="100584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029968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1</a:t>
            </a:r>
            <a:endParaRPr lang="ja-JP" sz="1800" dirty="0"/>
          </a:p>
        </p:txBody>
      </p:sp>
      <p:sp>
        <p:nvSpPr>
          <p:cNvPr id="5" name="次のステップ"/>
          <p:cNvSpPr/>
          <p:nvPr/>
        </p:nvSpPr>
        <p:spPr>
          <a:xfrm>
            <a:off x="548640" y="219456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</a:rPr>
              <a:t>次のステップ</a:t>
            </a:r>
            <a:endParaRPr lang="ja-JP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品質指標の設計(要注意度の式を業務の観点で見直す)</a:t>
            </a:r>
            <a:endParaRPr lang="ja-JP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取り扱いルールを確認したうえで実データで試行</a:t>
            </a:r>
            <a:endParaRPr lang="ja-JP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79008" y="14173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2</a:t>
            </a:r>
            <a:endParaRPr lang="ja-JP" sz="1800" dirty="0"/>
          </a:p>
        </p:txBody>
      </p:sp>
      <p:sp>
        <p:nvSpPr>
          <p:cNvPr id="9" name="その後"/>
          <p:cNvSpPr/>
          <p:nvPr/>
        </p:nvSpPr>
        <p:spPr>
          <a:xfrm>
            <a:off x="4297680" y="219456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</a:rPr>
              <a:t>その後</a:t>
            </a:r>
            <a:endParaRPr lang="ja-JP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92608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AIの呼び先をAzure OpenAIかローカルLLMに接続(社内規定に合わせて選択)</a:t>
            </a:r>
            <a:endParaRPr lang="ja-JP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意味の近さによる重複判定</a:t>
            </a:r>
            <a:endParaRPr lang="ja-JP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528048" y="14173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</a:rPr>
              <a:t>3</a:t>
            </a:r>
            <a:endParaRPr lang="ja-JP" sz="1800" dirty="0"/>
          </a:p>
        </p:txBody>
      </p:sp>
      <p:sp>
        <p:nvSpPr>
          <p:cNvPr id="13" name="中長期"/>
          <p:cNvSpPr/>
          <p:nvPr/>
        </p:nvSpPr>
        <p:spPr>
          <a:xfrm>
            <a:off x="8046720" y="2194560"/>
            <a:ext cx="352044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532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</a:rPr>
              <a:t>中長期</a:t>
            </a:r>
            <a:endParaRPr lang="ja-JP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92608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蓄積したデータによる期間比較・傾向分析</a:t>
            </a:r>
            <a:endParaRPr lang="ja-JP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1"/>
                </a:solidFill>
              </a:rPr>
              <a:t>レポート形式の整備</a:t>
            </a:r>
            <a:endParaRPr lang="ja-JP" sz="1500" dirty="0"/>
          </a:p>
        </p:txBody>
      </p:sp>
      <p:sp>
        <p:nvSpPr>
          <p:cNvPr id="16" name="相談事項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120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bg1"/>
                </a:solidFill>
              </a:rPr>
              <a:t>ご相談したいこと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bg1"/>
                </a:solidFill>
              </a:rPr>
              <a:t>実データを使う際の取り扱いルールと、AIの呼び先(クラウド/ローカル)の方針</a:t>
            </a:r>
            <a:endParaRPr lang="ja-JP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6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yTeal">
  <a:themeElements>
    <a:clrScheme name="QualityTeal">
      <a:dk1>
        <a:srgbClr val="1F2A33"/>
      </a:dk1>
      <a:lt1>
        <a:srgbClr val="FFFFFF"/>
      </a:lt1>
      <a:dk2>
        <a:srgbClr val="0F4C5C"/>
      </a:dk2>
      <a:lt2>
        <a:srgbClr val="EEF4F5"/>
      </a:lt2>
      <a:accent1>
        <a:srgbClr val="0F7C8C"/>
      </a:accent1>
      <a:accent2>
        <a:srgbClr val="E39B2D"/>
      </a:accent2>
      <a:accent3>
        <a:srgbClr val="C2553D"/>
      </a:accent3>
      <a:accent4>
        <a:srgbClr val="5F8F7E"/>
      </a:accent4>
      <a:accent5>
        <a:srgbClr val="8FA6B2"/>
      </a:accent5>
      <a:accent6>
        <a:srgbClr val="3D5A80"/>
      </a:accent6>
      <a:hlink>
        <a:srgbClr val="0F7C8C"/>
      </a:hlink>
      <a:folHlink>
        <a:srgbClr val="3D5A80"/>
      </a:folHlink>
    </a:clrScheme>
    <a:fontScheme name="QualityTeal">
      <a:majorFont>
        <a:latin typeface="BIZ UDPGothic"/>
        <a:ea typeface="BIZ UDPGothic"/>
        <a:cs typeface=""/>
        <a:font script="Jpan" typeface="BIZ UDP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BIZ UDPGothic"/>
        <a:cs typeface=""/>
        <a:font script="Jpan" typeface="BIZ UDP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品質分析ツール 中間報告</dc:title>
  <dc:subject>PptxGenJS Presentation</dc:subject>
  <dc:creator>PptxGenJS</dc:creator>
  <cp:lastModifiedBy>PptxGenJS</cp:lastModifiedBy>
  <cp:revision>1</cp:revision>
  <dcterms:created xsi:type="dcterms:W3CDTF">2026-10-06T03:16:16Z</dcterms:created>
  <dcterms:modified xsi:type="dcterms:W3CDTF">2026-10-06T03:16:16Z</dcterms:modified>
</cp:coreProperties>
</file>